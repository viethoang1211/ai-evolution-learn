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B6D4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0" y="731520"/>
            <a:ext cx="914400" cy="9144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7373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Evolution of AI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457200" y="24231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LLMs to Modern Agentic AI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3200400" y="3108960"/>
            <a:ext cx="2743200" cy="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57200" y="32918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10-Module Hands-On Journey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457200" y="4297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+ OpenAI / Azure OpenAI  |  Code Examples Included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Course Roadmap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20040" y="1051560"/>
            <a:ext cx="1600200" cy="1737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1051560"/>
            <a:ext cx="54864" cy="173736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887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508760"/>
            <a:ext cx="411480" cy="4114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11480" y="2057400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 LLMs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2057400" y="1051560"/>
            <a:ext cx="1600200" cy="1737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2057400" y="1051560"/>
            <a:ext cx="54864" cy="173736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11" name="Text 8"/>
          <p:cNvSpPr/>
          <p:nvPr/>
        </p:nvSpPr>
        <p:spPr>
          <a:xfrm>
            <a:off x="2194560" y="11887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1760" y="1508760"/>
            <a:ext cx="411480" cy="41148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2148840" y="2057400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Engineering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3794760" y="1051560"/>
            <a:ext cx="1600200" cy="1737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3794760" y="1051560"/>
            <a:ext cx="54864" cy="173736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16" name="Text 12"/>
          <p:cNvSpPr/>
          <p:nvPr/>
        </p:nvSpPr>
        <p:spPr>
          <a:xfrm>
            <a:off x="3931920" y="11887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1508760"/>
            <a:ext cx="411480" cy="41148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3886200" y="2057400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Pattern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5532120" y="1051560"/>
            <a:ext cx="1600200" cy="1737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5532120" y="1051560"/>
            <a:ext cx="54864" cy="173736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1" name="Text 16"/>
          <p:cNvSpPr/>
          <p:nvPr/>
        </p:nvSpPr>
        <p:spPr>
          <a:xfrm>
            <a:off x="5669280" y="11887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0" y="1508760"/>
            <a:ext cx="411480" cy="41148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5623560" y="2057400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Calling</a:t>
            </a:r>
            <a:endParaRPr lang="en-US" sz="1200" dirty="0"/>
          </a:p>
        </p:txBody>
      </p:sp>
      <p:sp>
        <p:nvSpPr>
          <p:cNvPr id="24" name="Shape 18"/>
          <p:cNvSpPr/>
          <p:nvPr/>
        </p:nvSpPr>
        <p:spPr>
          <a:xfrm>
            <a:off x="7269480" y="1051560"/>
            <a:ext cx="1600200" cy="1737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7269480" y="1051560"/>
            <a:ext cx="54864" cy="173736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6" name="Text 20"/>
          <p:cNvSpPr/>
          <p:nvPr/>
        </p:nvSpPr>
        <p:spPr>
          <a:xfrm>
            <a:off x="7406640" y="11887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63840" y="1508760"/>
            <a:ext cx="411480" cy="411480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7360920" y="2057400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Pattern</a:t>
            </a:r>
            <a:endParaRPr lang="en-US" sz="1200" dirty="0"/>
          </a:p>
        </p:txBody>
      </p:sp>
      <p:sp>
        <p:nvSpPr>
          <p:cNvPr id="29" name="Shape 22"/>
          <p:cNvSpPr/>
          <p:nvPr/>
        </p:nvSpPr>
        <p:spPr>
          <a:xfrm>
            <a:off x="320040" y="2971800"/>
            <a:ext cx="1600200" cy="1737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320040" y="2971800"/>
            <a:ext cx="54864" cy="173736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1" name="Text 24"/>
          <p:cNvSpPr/>
          <p:nvPr/>
        </p:nvSpPr>
        <p:spPr>
          <a:xfrm>
            <a:off x="457200" y="31089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400" y="3429000"/>
            <a:ext cx="411480" cy="411480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411480" y="3977640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</a:t>
            </a:r>
            <a:endParaRPr lang="en-US" sz="1200" dirty="0"/>
          </a:p>
        </p:txBody>
      </p:sp>
      <p:sp>
        <p:nvSpPr>
          <p:cNvPr id="34" name="Shape 26"/>
          <p:cNvSpPr/>
          <p:nvPr/>
        </p:nvSpPr>
        <p:spPr>
          <a:xfrm>
            <a:off x="2057400" y="2971800"/>
            <a:ext cx="1600200" cy="1737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35" name="Shape 27"/>
          <p:cNvSpPr/>
          <p:nvPr/>
        </p:nvSpPr>
        <p:spPr>
          <a:xfrm>
            <a:off x="2057400" y="2971800"/>
            <a:ext cx="54864" cy="173736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6" name="Text 28"/>
          <p:cNvSpPr/>
          <p:nvPr/>
        </p:nvSpPr>
        <p:spPr>
          <a:xfrm>
            <a:off x="2194560" y="31089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  <p:pic>
        <p:nvPicPr>
          <p:cNvPr id="3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1760" y="3429000"/>
            <a:ext cx="411480" cy="411480"/>
          </a:xfrm>
          <a:prstGeom prst="rect">
            <a:avLst/>
          </a:prstGeom>
        </p:spPr>
      </p:pic>
      <p:sp>
        <p:nvSpPr>
          <p:cNvPr id="38" name="Text 29"/>
          <p:cNvSpPr/>
          <p:nvPr/>
        </p:nvSpPr>
        <p:spPr>
          <a:xfrm>
            <a:off x="2148840" y="3977640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Systems</a:t>
            </a:r>
            <a:endParaRPr lang="en-US" sz="1200" dirty="0"/>
          </a:p>
        </p:txBody>
      </p:sp>
      <p:sp>
        <p:nvSpPr>
          <p:cNvPr id="39" name="Shape 30"/>
          <p:cNvSpPr/>
          <p:nvPr/>
        </p:nvSpPr>
        <p:spPr>
          <a:xfrm>
            <a:off x="3794760" y="2971800"/>
            <a:ext cx="1600200" cy="1737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0" name="Shape 31"/>
          <p:cNvSpPr/>
          <p:nvPr/>
        </p:nvSpPr>
        <p:spPr>
          <a:xfrm>
            <a:off x="3794760" y="2971800"/>
            <a:ext cx="54864" cy="173736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1" name="Text 32"/>
          <p:cNvSpPr/>
          <p:nvPr/>
        </p:nvSpPr>
        <p:spPr>
          <a:xfrm>
            <a:off x="3931920" y="31089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  <p:pic>
        <p:nvPicPr>
          <p:cNvPr id="4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89120" y="3429000"/>
            <a:ext cx="411480" cy="411480"/>
          </a:xfrm>
          <a:prstGeom prst="rect">
            <a:avLst/>
          </a:prstGeom>
        </p:spPr>
      </p:pic>
      <p:sp>
        <p:nvSpPr>
          <p:cNvPr id="43" name="Text 33"/>
          <p:cNvSpPr/>
          <p:nvPr/>
        </p:nvSpPr>
        <p:spPr>
          <a:xfrm>
            <a:off x="3886200" y="3977640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Engineering</a:t>
            </a:r>
            <a:endParaRPr lang="en-US" sz="1200" dirty="0"/>
          </a:p>
        </p:txBody>
      </p:sp>
      <p:sp>
        <p:nvSpPr>
          <p:cNvPr id="44" name="Shape 34"/>
          <p:cNvSpPr/>
          <p:nvPr/>
        </p:nvSpPr>
        <p:spPr>
          <a:xfrm>
            <a:off x="5532120" y="2971800"/>
            <a:ext cx="1600200" cy="1737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5" name="Shape 35"/>
          <p:cNvSpPr/>
          <p:nvPr/>
        </p:nvSpPr>
        <p:spPr>
          <a:xfrm>
            <a:off x="5532120" y="2971800"/>
            <a:ext cx="54864" cy="173736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6" name="Text 36"/>
          <p:cNvSpPr/>
          <p:nvPr/>
        </p:nvSpPr>
        <p:spPr>
          <a:xfrm>
            <a:off x="5669280" y="31089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  <p:pic>
        <p:nvPicPr>
          <p:cNvPr id="47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26480" y="3429000"/>
            <a:ext cx="411480" cy="411480"/>
          </a:xfrm>
          <a:prstGeom prst="rect">
            <a:avLst/>
          </a:prstGeom>
        </p:spPr>
      </p:pic>
      <p:sp>
        <p:nvSpPr>
          <p:cNvPr id="48" name="Text 37"/>
          <p:cNvSpPr/>
          <p:nvPr/>
        </p:nvSpPr>
        <p:spPr>
          <a:xfrm>
            <a:off x="5623560" y="3977640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&amp; Skills</a:t>
            </a:r>
            <a:endParaRPr lang="en-US" sz="1200" dirty="0"/>
          </a:p>
        </p:txBody>
      </p:sp>
      <p:sp>
        <p:nvSpPr>
          <p:cNvPr id="49" name="Shape 38"/>
          <p:cNvSpPr/>
          <p:nvPr/>
        </p:nvSpPr>
        <p:spPr>
          <a:xfrm>
            <a:off x="7269480" y="2971800"/>
            <a:ext cx="1600200" cy="1737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50" name="Shape 39"/>
          <p:cNvSpPr/>
          <p:nvPr/>
        </p:nvSpPr>
        <p:spPr>
          <a:xfrm>
            <a:off x="7269480" y="2971800"/>
            <a:ext cx="54864" cy="173736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51" name="Text 40"/>
          <p:cNvSpPr/>
          <p:nvPr/>
        </p:nvSpPr>
        <p:spPr>
          <a:xfrm>
            <a:off x="7406640" y="31089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pic>
        <p:nvPicPr>
          <p:cNvPr id="52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63840" y="3429000"/>
            <a:ext cx="411480" cy="411480"/>
          </a:xfrm>
          <a:prstGeom prst="rect">
            <a:avLst/>
          </a:prstGeom>
        </p:spPr>
      </p:pic>
      <p:sp>
        <p:nvSpPr>
          <p:cNvPr id="53" name="Text 41"/>
          <p:cNvSpPr/>
          <p:nvPr/>
        </p:nvSpPr>
        <p:spPr>
          <a:xfrm>
            <a:off x="7360920" y="3977640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Agentic AI</a:t>
            </a:r>
            <a:endParaRPr lang="en-US" sz="1200" dirty="0"/>
          </a:p>
        </p:txBody>
      </p:sp>
      <p:sp>
        <p:nvSpPr>
          <p:cNvPr id="54" name="Text 42"/>
          <p:cNvSpPr/>
          <p:nvPr/>
        </p:nvSpPr>
        <p:spPr>
          <a:xfrm>
            <a:off x="457200" y="46634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module solves a real pain point — building from simple to advanced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Story Arc: Pain Points Drive Innovation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960120"/>
            <a:ext cx="3657600" cy="38404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960120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LLMs give random outputs</a:t>
            </a:r>
            <a:endParaRPr lang="en-US" sz="11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43400" y="1014984"/>
            <a:ext cx="274320" cy="2743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846320" y="960120"/>
            <a:ext cx="3749040" cy="384048"/>
          </a:xfrm>
          <a:prstGeom prst="rect">
            <a:avLst/>
          </a:prstGeom>
          <a:solidFill>
            <a:srgbClr val="F59E0B">
              <a:alpha val="1500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4846320" y="960120"/>
            <a:ext cx="54864" cy="38404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9" name="Text 6"/>
          <p:cNvSpPr/>
          <p:nvPr/>
        </p:nvSpPr>
        <p:spPr>
          <a:xfrm>
            <a:off x="5029200" y="960120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Engineering (02)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48640" y="1453896"/>
            <a:ext cx="3657600" cy="38404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1453896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LLMs hallucinate</a:t>
            </a:r>
            <a:endParaRPr lang="en-US" sz="11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3400" y="1508760"/>
            <a:ext cx="274320" cy="27432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4846320" y="1453896"/>
            <a:ext cx="3749040" cy="384048"/>
          </a:xfrm>
          <a:prstGeom prst="rect">
            <a:avLst/>
          </a:prstGeom>
          <a:solidFill>
            <a:srgbClr val="10B981">
              <a:alpha val="15000"/>
            </a:srgbClr>
          </a:solidFill>
          <a:ln/>
        </p:spPr>
      </p:sp>
      <p:sp>
        <p:nvSpPr>
          <p:cNvPr id="14" name="Shape 10"/>
          <p:cNvSpPr/>
          <p:nvPr/>
        </p:nvSpPr>
        <p:spPr>
          <a:xfrm>
            <a:off x="4846320" y="1453896"/>
            <a:ext cx="54864" cy="384048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5" name="Text 11"/>
          <p:cNvSpPr/>
          <p:nvPr/>
        </p:nvSpPr>
        <p:spPr>
          <a:xfrm>
            <a:off x="5029200" y="1453896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Pattern (03)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548640" y="1947672"/>
            <a:ext cx="3657600" cy="38404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7" name="Text 13"/>
          <p:cNvSpPr/>
          <p:nvPr/>
        </p:nvSpPr>
        <p:spPr>
          <a:xfrm>
            <a:off x="640080" y="1947672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LLMs can't act</a:t>
            </a:r>
            <a:endParaRPr lang="en-US" sz="1100" dirty="0"/>
          </a:p>
        </p:txBody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2002536"/>
            <a:ext cx="274320" cy="274320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4846320" y="1947672"/>
            <a:ext cx="3749040" cy="384048"/>
          </a:xfrm>
          <a:prstGeom prst="rect">
            <a:avLst/>
          </a:prstGeom>
          <a:solidFill>
            <a:srgbClr val="F43F5E">
              <a:alpha val="15000"/>
            </a:srgbClr>
          </a:solidFill>
          <a:ln/>
        </p:spPr>
      </p:sp>
      <p:sp>
        <p:nvSpPr>
          <p:cNvPr id="20" name="Shape 15"/>
          <p:cNvSpPr/>
          <p:nvPr/>
        </p:nvSpPr>
        <p:spPr>
          <a:xfrm>
            <a:off x="4846320" y="1947672"/>
            <a:ext cx="54864" cy="384048"/>
          </a:xfrm>
          <a:prstGeom prst="rect">
            <a:avLst/>
          </a:prstGeom>
          <a:solidFill>
            <a:srgbClr val="F43F5E"/>
          </a:solidFill>
          <a:ln/>
        </p:spPr>
      </p:sp>
      <p:sp>
        <p:nvSpPr>
          <p:cNvPr id="21" name="Text 16"/>
          <p:cNvSpPr/>
          <p:nvPr/>
        </p:nvSpPr>
        <p:spPr>
          <a:xfrm>
            <a:off x="5029200" y="1947672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Calling (04)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548640" y="2441448"/>
            <a:ext cx="3657600" cy="38404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3" name="Text 18"/>
          <p:cNvSpPr/>
          <p:nvPr/>
        </p:nvSpPr>
        <p:spPr>
          <a:xfrm>
            <a:off x="640080" y="2441448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use without reasoning is blind</a:t>
            </a:r>
            <a:endParaRPr lang="en-US" sz="1100" dirty="0"/>
          </a:p>
        </p:txBody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43400" y="2496312"/>
            <a:ext cx="274320" cy="274320"/>
          </a:xfrm>
          <a:prstGeom prst="rect">
            <a:avLst/>
          </a:prstGeom>
        </p:spPr>
      </p:pic>
      <p:sp>
        <p:nvSpPr>
          <p:cNvPr id="25" name="Shape 19"/>
          <p:cNvSpPr/>
          <p:nvPr/>
        </p:nvSpPr>
        <p:spPr>
          <a:xfrm>
            <a:off x="4846320" y="2441448"/>
            <a:ext cx="3749040" cy="384048"/>
          </a:xfrm>
          <a:prstGeom prst="rect">
            <a:avLst/>
          </a:prstGeom>
          <a:solidFill>
            <a:srgbClr val="8B5CF6">
              <a:alpha val="15000"/>
            </a:srgbClr>
          </a:solidFill>
          <a:ln/>
        </p:spPr>
      </p:sp>
      <p:sp>
        <p:nvSpPr>
          <p:cNvPr id="26" name="Shape 20"/>
          <p:cNvSpPr/>
          <p:nvPr/>
        </p:nvSpPr>
        <p:spPr>
          <a:xfrm>
            <a:off x="4846320" y="2441448"/>
            <a:ext cx="54864" cy="384048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7" name="Text 21"/>
          <p:cNvSpPr/>
          <p:nvPr/>
        </p:nvSpPr>
        <p:spPr>
          <a:xfrm>
            <a:off x="5029200" y="2441448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Pattern (05)</a:t>
            </a:r>
            <a:endParaRPr lang="en-US" sz="1100" dirty="0"/>
          </a:p>
        </p:txBody>
      </p:sp>
      <p:sp>
        <p:nvSpPr>
          <p:cNvPr id="28" name="Shape 22"/>
          <p:cNvSpPr/>
          <p:nvPr/>
        </p:nvSpPr>
        <p:spPr>
          <a:xfrm>
            <a:off x="548640" y="2935224"/>
            <a:ext cx="3657600" cy="38404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9" name="Text 23"/>
          <p:cNvSpPr/>
          <p:nvPr/>
        </p:nvSpPr>
        <p:spPr>
          <a:xfrm>
            <a:off x="640080" y="2935224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are reactive, not proactive</a:t>
            </a:r>
            <a:endParaRPr lang="en-US" sz="1100" dirty="0"/>
          </a:p>
        </p:txBody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43400" y="2990088"/>
            <a:ext cx="274320" cy="274320"/>
          </a:xfrm>
          <a:prstGeom prst="rect">
            <a:avLst/>
          </a:prstGeom>
        </p:spPr>
      </p:pic>
      <p:sp>
        <p:nvSpPr>
          <p:cNvPr id="31" name="Shape 24"/>
          <p:cNvSpPr/>
          <p:nvPr/>
        </p:nvSpPr>
        <p:spPr>
          <a:xfrm>
            <a:off x="4846320" y="2935224"/>
            <a:ext cx="3749040" cy="384048"/>
          </a:xfrm>
          <a:prstGeom prst="rect">
            <a:avLst/>
          </a:prstGeom>
          <a:solidFill>
            <a:srgbClr val="06B6D4">
              <a:alpha val="15000"/>
            </a:srgbClr>
          </a:solidFill>
          <a:ln/>
        </p:spPr>
      </p:sp>
      <p:sp>
        <p:nvSpPr>
          <p:cNvPr id="32" name="Shape 25"/>
          <p:cNvSpPr/>
          <p:nvPr/>
        </p:nvSpPr>
        <p:spPr>
          <a:xfrm>
            <a:off x="4846320" y="2935224"/>
            <a:ext cx="54864" cy="38404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3" name="Text 26"/>
          <p:cNvSpPr/>
          <p:nvPr/>
        </p:nvSpPr>
        <p:spPr>
          <a:xfrm>
            <a:off x="5029200" y="2935224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(06)</a:t>
            </a:r>
            <a:endParaRPr lang="en-US" sz="1100" dirty="0"/>
          </a:p>
        </p:txBody>
      </p:sp>
      <p:sp>
        <p:nvSpPr>
          <p:cNvPr id="34" name="Shape 27"/>
          <p:cNvSpPr/>
          <p:nvPr/>
        </p:nvSpPr>
        <p:spPr>
          <a:xfrm>
            <a:off x="548640" y="3429000"/>
            <a:ext cx="3657600" cy="38404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5" name="Text 28"/>
          <p:cNvSpPr/>
          <p:nvPr/>
        </p:nvSpPr>
        <p:spPr>
          <a:xfrm>
            <a:off x="640080" y="3429000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agent can't do everything</a:t>
            </a:r>
            <a:endParaRPr lang="en-US" sz="1100" dirty="0"/>
          </a:p>
        </p:txBody>
      </p:sp>
      <p:pic>
        <p:nvPicPr>
          <p:cNvPr id="3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43400" y="3483864"/>
            <a:ext cx="274320" cy="274320"/>
          </a:xfrm>
          <a:prstGeom prst="rect">
            <a:avLst/>
          </a:prstGeom>
        </p:spPr>
      </p:pic>
      <p:sp>
        <p:nvSpPr>
          <p:cNvPr id="37" name="Shape 29"/>
          <p:cNvSpPr/>
          <p:nvPr/>
        </p:nvSpPr>
        <p:spPr>
          <a:xfrm>
            <a:off x="4846320" y="3429000"/>
            <a:ext cx="3749040" cy="384048"/>
          </a:xfrm>
          <a:prstGeom prst="rect">
            <a:avLst/>
          </a:prstGeom>
          <a:solidFill>
            <a:srgbClr val="F59E0B">
              <a:alpha val="15000"/>
            </a:srgbClr>
          </a:solidFill>
          <a:ln/>
        </p:spPr>
      </p:sp>
      <p:sp>
        <p:nvSpPr>
          <p:cNvPr id="38" name="Shape 30"/>
          <p:cNvSpPr/>
          <p:nvPr/>
        </p:nvSpPr>
        <p:spPr>
          <a:xfrm>
            <a:off x="4846320" y="3429000"/>
            <a:ext cx="54864" cy="38404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9" name="Text 31"/>
          <p:cNvSpPr/>
          <p:nvPr/>
        </p:nvSpPr>
        <p:spPr>
          <a:xfrm>
            <a:off x="5029200" y="3429000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(07)</a:t>
            </a:r>
            <a:endParaRPr lang="en-US" sz="1100" dirty="0"/>
          </a:p>
        </p:txBody>
      </p:sp>
      <p:sp>
        <p:nvSpPr>
          <p:cNvPr id="40" name="Shape 32"/>
          <p:cNvSpPr/>
          <p:nvPr/>
        </p:nvSpPr>
        <p:spPr>
          <a:xfrm>
            <a:off x="548640" y="3922776"/>
            <a:ext cx="3657600" cy="38404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41" name="Text 33"/>
          <p:cNvSpPr/>
          <p:nvPr/>
        </p:nvSpPr>
        <p:spPr>
          <a:xfrm>
            <a:off x="640080" y="3922776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window chaos</a:t>
            </a:r>
            <a:endParaRPr lang="en-US" sz="1100" dirty="0"/>
          </a:p>
        </p:txBody>
      </p:sp>
      <p:pic>
        <p:nvPicPr>
          <p:cNvPr id="4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43400" y="3977640"/>
            <a:ext cx="274320" cy="274320"/>
          </a:xfrm>
          <a:prstGeom prst="rect">
            <a:avLst/>
          </a:prstGeom>
        </p:spPr>
      </p:pic>
      <p:sp>
        <p:nvSpPr>
          <p:cNvPr id="43" name="Shape 34"/>
          <p:cNvSpPr/>
          <p:nvPr/>
        </p:nvSpPr>
        <p:spPr>
          <a:xfrm>
            <a:off x="4846320" y="3922776"/>
            <a:ext cx="3749040" cy="384048"/>
          </a:xfrm>
          <a:prstGeom prst="rect">
            <a:avLst/>
          </a:prstGeom>
          <a:solidFill>
            <a:srgbClr val="10B981">
              <a:alpha val="15000"/>
            </a:srgbClr>
          </a:solidFill>
          <a:ln/>
        </p:spPr>
      </p:sp>
      <p:sp>
        <p:nvSpPr>
          <p:cNvPr id="44" name="Shape 35"/>
          <p:cNvSpPr/>
          <p:nvPr/>
        </p:nvSpPr>
        <p:spPr>
          <a:xfrm>
            <a:off x="4846320" y="3922776"/>
            <a:ext cx="54864" cy="384048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5" name="Text 36"/>
          <p:cNvSpPr/>
          <p:nvPr/>
        </p:nvSpPr>
        <p:spPr>
          <a:xfrm>
            <a:off x="5029200" y="3922776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Eng. (08)</a:t>
            </a:r>
            <a:endParaRPr lang="en-US" sz="1100" dirty="0"/>
          </a:p>
        </p:txBody>
      </p:sp>
      <p:sp>
        <p:nvSpPr>
          <p:cNvPr id="46" name="Shape 37"/>
          <p:cNvSpPr/>
          <p:nvPr/>
        </p:nvSpPr>
        <p:spPr>
          <a:xfrm>
            <a:off x="548640" y="4416552"/>
            <a:ext cx="3657600" cy="38404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47" name="Text 38"/>
          <p:cNvSpPr/>
          <p:nvPr/>
        </p:nvSpPr>
        <p:spPr>
          <a:xfrm>
            <a:off x="640080" y="4416552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N*M integration problem</a:t>
            </a:r>
            <a:endParaRPr lang="en-US" sz="1100" dirty="0"/>
          </a:p>
        </p:txBody>
      </p:sp>
      <p:pic>
        <p:nvPicPr>
          <p:cNvPr id="4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43400" y="4471416"/>
            <a:ext cx="274320" cy="274320"/>
          </a:xfrm>
          <a:prstGeom prst="rect">
            <a:avLst/>
          </a:prstGeom>
        </p:spPr>
      </p:pic>
      <p:sp>
        <p:nvSpPr>
          <p:cNvPr id="49" name="Shape 39"/>
          <p:cNvSpPr/>
          <p:nvPr/>
        </p:nvSpPr>
        <p:spPr>
          <a:xfrm>
            <a:off x="4846320" y="4416552"/>
            <a:ext cx="3749040" cy="384048"/>
          </a:xfrm>
          <a:prstGeom prst="rect">
            <a:avLst/>
          </a:prstGeom>
          <a:solidFill>
            <a:srgbClr val="F43F5E">
              <a:alpha val="15000"/>
            </a:srgbClr>
          </a:solidFill>
          <a:ln/>
        </p:spPr>
      </p:sp>
      <p:sp>
        <p:nvSpPr>
          <p:cNvPr id="50" name="Shape 40"/>
          <p:cNvSpPr/>
          <p:nvPr/>
        </p:nvSpPr>
        <p:spPr>
          <a:xfrm>
            <a:off x="4846320" y="4416552"/>
            <a:ext cx="54864" cy="384048"/>
          </a:xfrm>
          <a:prstGeom prst="rect">
            <a:avLst/>
          </a:prstGeom>
          <a:solidFill>
            <a:srgbClr val="F43F5E"/>
          </a:solidFill>
          <a:ln/>
        </p:spPr>
      </p:sp>
      <p:sp>
        <p:nvSpPr>
          <p:cNvPr id="51" name="Text 41"/>
          <p:cNvSpPr/>
          <p:nvPr/>
        </p:nvSpPr>
        <p:spPr>
          <a:xfrm>
            <a:off x="5029200" y="4416552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&amp; Skills (09)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274320"/>
            <a:ext cx="594360" cy="4572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74320"/>
            <a:ext cx="594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188720" y="256032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Foundation LLMs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188720" y="713232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Understanding the base technology</a:t>
            </a:r>
            <a:endParaRPr lang="en-US" sz="14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0" y="256032"/>
            <a:ext cx="594360" cy="5943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1097280"/>
            <a:ext cx="8229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57200" y="1280160"/>
            <a:ext cx="8229600" cy="502920"/>
          </a:xfrm>
          <a:prstGeom prst="rect">
            <a:avLst/>
          </a:prstGeom>
          <a:solidFill>
            <a:srgbClr val="FEF2F2"/>
          </a:solidFill>
          <a:ln/>
        </p:spPr>
      </p:sp>
      <p:sp>
        <p:nvSpPr>
          <p:cNvPr id="10" name="Shape 7"/>
          <p:cNvSpPr/>
          <p:nvPr/>
        </p:nvSpPr>
        <p:spPr>
          <a:xfrm>
            <a:off x="457200" y="1280160"/>
            <a:ext cx="54864" cy="502920"/>
          </a:xfrm>
          <a:prstGeom prst="rect">
            <a:avLst/>
          </a:prstGeom>
          <a:solidFill>
            <a:srgbClr val="F43F5E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53312"/>
            <a:ext cx="320040" cy="32004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051560" y="128016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LLMs are stateless text completion engines with fundamental limits.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457200" y="19659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Concepts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457200" y="2331720"/>
            <a:ext cx="8229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 architecture: Attention Is All You Need (Vaswani, 2017)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Emergent abilities at scale: few-shot learning, chain-of-thought, code gen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limits: no memory, knowledge cutoff, hallucination, no actions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API call is independent — the model forgets everything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457200" y="4434840"/>
            <a:ext cx="8229600" cy="502920"/>
          </a:xfrm>
          <a:prstGeom prst="rect">
            <a:avLst/>
          </a:prstGeom>
          <a:solidFill>
            <a:srgbClr val="F0FDF4"/>
          </a:solidFill>
          <a:ln/>
        </p:spPr>
      </p:sp>
      <p:sp>
        <p:nvSpPr>
          <p:cNvPr id="16" name="Shape 12"/>
          <p:cNvSpPr/>
          <p:nvPr/>
        </p:nvSpPr>
        <p:spPr>
          <a:xfrm>
            <a:off x="457200" y="4434840"/>
            <a:ext cx="54864" cy="502920"/>
          </a:xfrm>
          <a:prstGeom prst="rect">
            <a:avLst/>
          </a:prstGeom>
          <a:solidFill>
            <a:srgbClr val="10B981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507992"/>
            <a:ext cx="320040" cy="32004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051560" y="44348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01_basic_llm_call.py — Simple OpenAI / Azure OpenAI API call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274320"/>
            <a:ext cx="594360" cy="4572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74320"/>
            <a:ext cx="594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188720" y="256032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Prompt Engineering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188720" y="713232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Making LLMs actually useful</a:t>
            </a:r>
            <a:endParaRPr lang="en-US" sz="14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0" y="256032"/>
            <a:ext cx="594360" cy="5943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1097280"/>
            <a:ext cx="8229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57200" y="1280160"/>
            <a:ext cx="8229600" cy="502920"/>
          </a:xfrm>
          <a:prstGeom prst="rect">
            <a:avLst/>
          </a:prstGeom>
          <a:solidFill>
            <a:srgbClr val="FEF2F2"/>
          </a:solidFill>
          <a:ln/>
        </p:spPr>
      </p:sp>
      <p:sp>
        <p:nvSpPr>
          <p:cNvPr id="10" name="Shape 7"/>
          <p:cNvSpPr/>
          <p:nvPr/>
        </p:nvSpPr>
        <p:spPr>
          <a:xfrm>
            <a:off x="457200" y="1280160"/>
            <a:ext cx="54864" cy="502920"/>
          </a:xfrm>
          <a:prstGeom prst="rect">
            <a:avLst/>
          </a:prstGeom>
          <a:solidFill>
            <a:srgbClr val="F43F5E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53312"/>
            <a:ext cx="320040" cy="32004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051560" y="128016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prompts give inconsistent, low-quality outputs.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457200" y="19659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Concepts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457200" y="2331720"/>
            <a:ext cx="8229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Zero-shot → Few-shot → Chain-of-Thought → System Prompts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output (JSON mode) for data pipelines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patterns, self-consistency, Tree-of-Thought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Necessary but insufficient — can't fix hallucination or knowledge cutoff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457200" y="4434840"/>
            <a:ext cx="8229600" cy="502920"/>
          </a:xfrm>
          <a:prstGeom prst="rect">
            <a:avLst/>
          </a:prstGeom>
          <a:solidFill>
            <a:srgbClr val="F0FDF4"/>
          </a:solidFill>
          <a:ln/>
        </p:spPr>
      </p:sp>
      <p:sp>
        <p:nvSpPr>
          <p:cNvPr id="16" name="Shape 12"/>
          <p:cNvSpPr/>
          <p:nvPr/>
        </p:nvSpPr>
        <p:spPr>
          <a:xfrm>
            <a:off x="457200" y="4434840"/>
            <a:ext cx="54864" cy="502920"/>
          </a:xfrm>
          <a:prstGeom prst="rect">
            <a:avLst/>
          </a:prstGeom>
          <a:solidFill>
            <a:srgbClr val="10B981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507992"/>
            <a:ext cx="320040" cy="32004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051560" y="44348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01_prompting_techniques.py — Compare 4 techniques on one task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274320"/>
            <a:ext cx="594360" cy="4572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74320"/>
            <a:ext cx="594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188720" y="256032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RAG Pattern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188720" y="713232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Retrieval-Augmented Generation</a:t>
            </a:r>
            <a:endParaRPr lang="en-US" sz="14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0" y="256032"/>
            <a:ext cx="594360" cy="5943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1097280"/>
            <a:ext cx="8229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57200" y="1280160"/>
            <a:ext cx="8229600" cy="502920"/>
          </a:xfrm>
          <a:prstGeom prst="rect">
            <a:avLst/>
          </a:prstGeom>
          <a:solidFill>
            <a:srgbClr val="FEF2F2"/>
          </a:solidFill>
          <a:ln/>
        </p:spPr>
      </p:sp>
      <p:sp>
        <p:nvSpPr>
          <p:cNvPr id="10" name="Shape 7"/>
          <p:cNvSpPr/>
          <p:nvPr/>
        </p:nvSpPr>
        <p:spPr>
          <a:xfrm>
            <a:off x="457200" y="1280160"/>
            <a:ext cx="54864" cy="502920"/>
          </a:xfrm>
          <a:prstGeom prst="rect">
            <a:avLst/>
          </a:prstGeom>
          <a:solidFill>
            <a:srgbClr val="F43F5E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53312"/>
            <a:ext cx="320040" cy="32004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051560" y="128016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LLMs are frozen in time and hallucinate about private data.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457200" y="19659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Concepts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457200" y="2331720"/>
            <a:ext cx="8229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 → Store → Retrieve → Augment → Generate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embeddings: semantic similarity via cosine distance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Grounding eliminates hallucination for known knowledge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 pattern — can't take actions or iterate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457200" y="4434840"/>
            <a:ext cx="8229600" cy="502920"/>
          </a:xfrm>
          <a:prstGeom prst="rect">
            <a:avLst/>
          </a:prstGeom>
          <a:solidFill>
            <a:srgbClr val="F0FDF4"/>
          </a:solidFill>
          <a:ln/>
        </p:spPr>
      </p:sp>
      <p:sp>
        <p:nvSpPr>
          <p:cNvPr id="16" name="Shape 12"/>
          <p:cNvSpPr/>
          <p:nvPr/>
        </p:nvSpPr>
        <p:spPr>
          <a:xfrm>
            <a:off x="457200" y="4434840"/>
            <a:ext cx="54864" cy="502920"/>
          </a:xfrm>
          <a:prstGeom prst="rect">
            <a:avLst/>
          </a:prstGeom>
          <a:solidFill>
            <a:srgbClr val="10B981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507992"/>
            <a:ext cx="320040" cy="32004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051560" y="44348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01_simple_rag.py — Full RAG pipeline from scratch with NumPy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274320"/>
            <a:ext cx="594360" cy="4572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74320"/>
            <a:ext cx="594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188720" y="256032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Function Calling &amp; Tools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188720" y="713232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LLMs that can act in the real world</a:t>
            </a:r>
            <a:endParaRPr lang="en-US" sz="14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0" y="256032"/>
            <a:ext cx="594360" cy="5943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1097280"/>
            <a:ext cx="8229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57200" y="1280160"/>
            <a:ext cx="8229600" cy="502920"/>
          </a:xfrm>
          <a:prstGeom prst="rect">
            <a:avLst/>
          </a:prstGeom>
          <a:solidFill>
            <a:srgbClr val="FEF2F2"/>
          </a:solidFill>
          <a:ln/>
        </p:spPr>
      </p:sp>
      <p:sp>
        <p:nvSpPr>
          <p:cNvPr id="10" name="Shape 7"/>
          <p:cNvSpPr/>
          <p:nvPr/>
        </p:nvSpPr>
        <p:spPr>
          <a:xfrm>
            <a:off x="457200" y="1280160"/>
            <a:ext cx="54864" cy="502920"/>
          </a:xfrm>
          <a:prstGeom prst="rect">
            <a:avLst/>
          </a:prstGeom>
          <a:solidFill>
            <a:srgbClr val="F43F5E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53312"/>
            <a:ext cx="320040" cy="32004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051560" y="128016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LLMs can think but can't DO anything.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457200" y="19659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Concepts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457200" y="2331720"/>
            <a:ext cx="8229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decides WHAT to call; your code EXECUTES it (safety boundary)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defined via JSON Schema — LLM reads the schema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introduced function calling (June 2023)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Single-turn only — no multi-step reasoning yet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457200" y="4434840"/>
            <a:ext cx="8229600" cy="502920"/>
          </a:xfrm>
          <a:prstGeom prst="rect">
            <a:avLst/>
          </a:prstGeom>
          <a:solidFill>
            <a:srgbClr val="F0FDF4"/>
          </a:solidFill>
          <a:ln/>
        </p:spPr>
      </p:sp>
      <p:sp>
        <p:nvSpPr>
          <p:cNvPr id="16" name="Shape 12"/>
          <p:cNvSpPr/>
          <p:nvPr/>
        </p:nvSpPr>
        <p:spPr>
          <a:xfrm>
            <a:off x="457200" y="4434840"/>
            <a:ext cx="54864" cy="502920"/>
          </a:xfrm>
          <a:prstGeom prst="rect">
            <a:avLst/>
          </a:prstGeom>
          <a:solidFill>
            <a:srgbClr val="10B981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507992"/>
            <a:ext cx="320040" cy="32004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051560" y="44348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02_multi_tool_assistant.py — Project management assistant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274320"/>
            <a:ext cx="594360" cy="4572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74320"/>
            <a:ext cx="594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05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188720" y="256032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 Pattern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188720" y="713232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Reasoning + Acting — the foundation of agents</a:t>
            </a:r>
            <a:endParaRPr lang="en-US" sz="14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0" y="256032"/>
            <a:ext cx="594360" cy="5943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1097280"/>
            <a:ext cx="8229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57200" y="1280160"/>
            <a:ext cx="8229600" cy="502920"/>
          </a:xfrm>
          <a:prstGeom prst="rect">
            <a:avLst/>
          </a:prstGeom>
          <a:solidFill>
            <a:srgbClr val="FEF2F2"/>
          </a:solidFill>
          <a:ln/>
        </p:spPr>
      </p:sp>
      <p:sp>
        <p:nvSpPr>
          <p:cNvPr id="10" name="Shape 7"/>
          <p:cNvSpPr/>
          <p:nvPr/>
        </p:nvSpPr>
        <p:spPr>
          <a:xfrm>
            <a:off x="457200" y="1280160"/>
            <a:ext cx="54864" cy="502920"/>
          </a:xfrm>
          <a:prstGeom prst="rect">
            <a:avLst/>
          </a:prstGeom>
          <a:solidFill>
            <a:srgbClr val="F43F5E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53312"/>
            <a:ext cx="320040" cy="32004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051560" y="128016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calling without reasoning is blind execution.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457200" y="19659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Concepts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457200" y="2331720"/>
            <a:ext cx="8229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Thought → Action → Observation loop (Yao et al., 2022)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Multi-step problem solving with adaptive planning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recovery: retry, fallback, reason about failures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 of EVERY modern AI agent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457200" y="4434840"/>
            <a:ext cx="8229600" cy="502920"/>
          </a:xfrm>
          <a:prstGeom prst="rect">
            <a:avLst/>
          </a:prstGeom>
          <a:solidFill>
            <a:srgbClr val="F0FDF4"/>
          </a:solidFill>
          <a:ln/>
        </p:spPr>
      </p:sp>
      <p:sp>
        <p:nvSpPr>
          <p:cNvPr id="16" name="Shape 12"/>
          <p:cNvSpPr/>
          <p:nvPr/>
        </p:nvSpPr>
        <p:spPr>
          <a:xfrm>
            <a:off x="457200" y="4434840"/>
            <a:ext cx="54864" cy="502920"/>
          </a:xfrm>
          <a:prstGeom prst="rect">
            <a:avLst/>
          </a:prstGeom>
          <a:solidFill>
            <a:srgbClr val="10B981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507992"/>
            <a:ext cx="320040" cy="32004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051560" y="44348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02_react_error_recovery.py — Agent that handles API failures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274320"/>
            <a:ext cx="594360" cy="4572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74320"/>
            <a:ext cx="594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188720" y="256032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Agentic AI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188720" y="713232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chatbot to autonomous agent</a:t>
            </a:r>
            <a:endParaRPr lang="en-US" sz="14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0" y="256032"/>
            <a:ext cx="594360" cy="5943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1097280"/>
            <a:ext cx="8229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57200" y="1280160"/>
            <a:ext cx="8229600" cy="502920"/>
          </a:xfrm>
          <a:prstGeom prst="rect">
            <a:avLst/>
          </a:prstGeom>
          <a:solidFill>
            <a:srgbClr val="FEF2F2"/>
          </a:solidFill>
          <a:ln/>
        </p:spPr>
      </p:sp>
      <p:sp>
        <p:nvSpPr>
          <p:cNvPr id="10" name="Shape 7"/>
          <p:cNvSpPr/>
          <p:nvPr/>
        </p:nvSpPr>
        <p:spPr>
          <a:xfrm>
            <a:off x="457200" y="1280160"/>
            <a:ext cx="54864" cy="502920"/>
          </a:xfrm>
          <a:prstGeom prst="rect">
            <a:avLst/>
          </a:prstGeom>
          <a:solidFill>
            <a:srgbClr val="F43F5E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53312"/>
            <a:ext cx="320040" cy="32004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051560" y="128016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agents are reactive, not proactive.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457200" y="19659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Concepts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457200" y="2331720"/>
            <a:ext cx="8229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properties: Planning, Tool Use, Memory, Reflection, Autonomy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loop: Plan → Execute → Observe → Reflect → Adapt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Short-term + long-term memory across sessions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where Copilot, Cursor, Devin operate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457200" y="4434840"/>
            <a:ext cx="8229600" cy="502920"/>
          </a:xfrm>
          <a:prstGeom prst="rect">
            <a:avLst/>
          </a:prstGeom>
          <a:solidFill>
            <a:srgbClr val="F0FDF4"/>
          </a:solidFill>
          <a:ln/>
        </p:spPr>
      </p:sp>
      <p:sp>
        <p:nvSpPr>
          <p:cNvPr id="16" name="Shape 12"/>
          <p:cNvSpPr/>
          <p:nvPr/>
        </p:nvSpPr>
        <p:spPr>
          <a:xfrm>
            <a:off x="457200" y="4434840"/>
            <a:ext cx="54864" cy="502920"/>
          </a:xfrm>
          <a:prstGeom prst="rect">
            <a:avLst/>
          </a:prstGeom>
          <a:solidFill>
            <a:srgbClr val="10B981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507992"/>
            <a:ext cx="320040" cy="32004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051560" y="44348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02_agent_with_memory.py — Agent with memory &amp; self-reflection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274320"/>
            <a:ext cx="594360" cy="4572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74320"/>
            <a:ext cx="594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07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188720" y="256032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Multi-Agent Systems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188720" y="713232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Specialization &amp; collaboration</a:t>
            </a:r>
            <a:endParaRPr lang="en-US" sz="14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0" y="256032"/>
            <a:ext cx="594360" cy="5943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1097280"/>
            <a:ext cx="8229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57200" y="1280160"/>
            <a:ext cx="8229600" cy="502920"/>
          </a:xfrm>
          <a:prstGeom prst="rect">
            <a:avLst/>
          </a:prstGeom>
          <a:solidFill>
            <a:srgbClr val="FEF2F2"/>
          </a:solidFill>
          <a:ln/>
        </p:spPr>
      </p:sp>
      <p:sp>
        <p:nvSpPr>
          <p:cNvPr id="10" name="Shape 7"/>
          <p:cNvSpPr/>
          <p:nvPr/>
        </p:nvSpPr>
        <p:spPr>
          <a:xfrm>
            <a:off x="457200" y="1280160"/>
            <a:ext cx="54864" cy="502920"/>
          </a:xfrm>
          <a:prstGeom prst="rect">
            <a:avLst/>
          </a:prstGeom>
          <a:solidFill>
            <a:srgbClr val="F43F5E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53312"/>
            <a:ext cx="320040" cy="32004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051560" y="128016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agent can't handle complex multi-domain tasks.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457200" y="19659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Concepts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457200" y="2331720"/>
            <a:ext cx="8229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Orchestrator: Manager delegates to specialist agents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Pipeline: Sequential handoff (plan → code → review)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Debate: Adversarial collaboration for quality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Swarm: Dynamic routing to the right expert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457200" y="4434840"/>
            <a:ext cx="8229600" cy="502920"/>
          </a:xfrm>
          <a:prstGeom prst="rect">
            <a:avLst/>
          </a:prstGeom>
          <a:solidFill>
            <a:srgbClr val="F0FDF4"/>
          </a:solidFill>
          <a:ln/>
        </p:spPr>
      </p:sp>
      <p:sp>
        <p:nvSpPr>
          <p:cNvPr id="16" name="Shape 12"/>
          <p:cNvSpPr/>
          <p:nvPr/>
        </p:nvSpPr>
        <p:spPr>
          <a:xfrm>
            <a:off x="457200" y="4434840"/>
            <a:ext cx="54864" cy="502920"/>
          </a:xfrm>
          <a:prstGeom prst="rect">
            <a:avLst/>
          </a:prstGeom>
          <a:solidFill>
            <a:srgbClr val="10B981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507992"/>
            <a:ext cx="320040" cy="32004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051560" y="44348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02_code_review_pipeline.py — Security + Performance reviewers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274320"/>
            <a:ext cx="594360" cy="4572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74320"/>
            <a:ext cx="594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08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188720" y="256032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Context Engineering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188720" y="713232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#1 skill for production AI</a:t>
            </a:r>
            <a:endParaRPr lang="en-US" sz="14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0" y="256032"/>
            <a:ext cx="594360" cy="5943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1097280"/>
            <a:ext cx="8229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57200" y="1280160"/>
            <a:ext cx="8229600" cy="502920"/>
          </a:xfrm>
          <a:prstGeom prst="rect">
            <a:avLst/>
          </a:prstGeom>
          <a:solidFill>
            <a:srgbClr val="FEF2F2"/>
          </a:solidFill>
          <a:ln/>
        </p:spPr>
      </p:sp>
      <p:sp>
        <p:nvSpPr>
          <p:cNvPr id="10" name="Shape 7"/>
          <p:cNvSpPr/>
          <p:nvPr/>
        </p:nvSpPr>
        <p:spPr>
          <a:xfrm>
            <a:off x="457200" y="1280160"/>
            <a:ext cx="54864" cy="502920"/>
          </a:xfrm>
          <a:prstGeom prst="rect">
            <a:avLst/>
          </a:prstGeom>
          <a:solidFill>
            <a:srgbClr val="F43F5E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53312"/>
            <a:ext cx="320040" cy="32004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051560" y="128016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engineering isn't enough for complex agent systems.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457200" y="19659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Concepts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457200" y="2331720"/>
            <a:ext cx="8229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Curate the ENTIRE context window, not just the prompt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Summarize old history, keep recent turns detailed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Priority-based: P1 system+query, P2 code+docs, P3 prefs, P4 drop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selection: different queries need different context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457200" y="4434840"/>
            <a:ext cx="8229600" cy="502920"/>
          </a:xfrm>
          <a:prstGeom prst="rect">
            <a:avLst/>
          </a:prstGeom>
          <a:solidFill>
            <a:srgbClr val="F0FDF4"/>
          </a:solidFill>
          <a:ln/>
        </p:spPr>
      </p:sp>
      <p:sp>
        <p:nvSpPr>
          <p:cNvPr id="16" name="Shape 12"/>
          <p:cNvSpPr/>
          <p:nvPr/>
        </p:nvSpPr>
        <p:spPr>
          <a:xfrm>
            <a:off x="457200" y="4434840"/>
            <a:ext cx="54864" cy="502920"/>
          </a:xfrm>
          <a:prstGeom prst="rect">
            <a:avLst/>
          </a:prstGeom>
          <a:solidFill>
            <a:srgbClr val="10B981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507992"/>
            <a:ext cx="320040" cy="32004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051560" y="44348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02_dynamic_context.py — Context pipeline selecting per-query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274320"/>
            <a:ext cx="594360" cy="4572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74320"/>
            <a:ext cx="594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09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188720" y="256032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MCP &amp; Skills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188720" y="713232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Standardizing AI integration</a:t>
            </a:r>
            <a:endParaRPr lang="en-US" sz="14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0" y="256032"/>
            <a:ext cx="594360" cy="5943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1097280"/>
            <a:ext cx="8229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57200" y="1280160"/>
            <a:ext cx="8229600" cy="502920"/>
          </a:xfrm>
          <a:prstGeom prst="rect">
            <a:avLst/>
          </a:prstGeom>
          <a:solidFill>
            <a:srgbClr val="FEF2F2"/>
          </a:solidFill>
          <a:ln/>
        </p:spPr>
      </p:sp>
      <p:sp>
        <p:nvSpPr>
          <p:cNvPr id="10" name="Shape 7"/>
          <p:cNvSpPr/>
          <p:nvPr/>
        </p:nvSpPr>
        <p:spPr>
          <a:xfrm>
            <a:off x="457200" y="1280160"/>
            <a:ext cx="54864" cy="502920"/>
          </a:xfrm>
          <a:prstGeom prst="rect">
            <a:avLst/>
          </a:prstGeom>
          <a:solidFill>
            <a:srgbClr val="F43F5E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53312"/>
            <a:ext cx="320040" cy="32004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051560" y="128016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N×M integration problem — every AI app needs custom integrations.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457200" y="19659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Concepts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457200" y="2331720"/>
            <a:ext cx="8229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= Standard protocol: any AI host ↔ any service ('USB for AI')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Servers expose: Tools (actions), Resources (data), Prompts (templates)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= packaged domain knowledge + tool configurations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N+M solution instead of N×M — write once, use everywhere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457200" y="4434840"/>
            <a:ext cx="8229600" cy="502920"/>
          </a:xfrm>
          <a:prstGeom prst="rect">
            <a:avLst/>
          </a:prstGeom>
          <a:solidFill>
            <a:srgbClr val="F0FDF4"/>
          </a:solidFill>
          <a:ln/>
        </p:spPr>
      </p:sp>
      <p:sp>
        <p:nvSpPr>
          <p:cNvPr id="16" name="Shape 12"/>
          <p:cNvSpPr/>
          <p:nvPr/>
        </p:nvSpPr>
        <p:spPr>
          <a:xfrm>
            <a:off x="457200" y="4434840"/>
            <a:ext cx="54864" cy="502920"/>
          </a:xfrm>
          <a:prstGeom prst="rect">
            <a:avLst/>
          </a:prstGeom>
          <a:solidFill>
            <a:srgbClr val="10B981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507992"/>
            <a:ext cx="320040" cy="32004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051560" y="44348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02_mcp_client_demo.py — Multi-server MCP + LLM integration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274320"/>
            <a:ext cx="594360" cy="4572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74320"/>
            <a:ext cx="594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188720" y="256032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Modern Agentic AI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188720" y="713232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Putting it all together</a:t>
            </a:r>
            <a:endParaRPr lang="en-US" sz="14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0" y="256032"/>
            <a:ext cx="594360" cy="5943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1097280"/>
            <a:ext cx="8229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57200" y="1280160"/>
            <a:ext cx="8229600" cy="502920"/>
          </a:xfrm>
          <a:prstGeom prst="rect">
            <a:avLst/>
          </a:prstGeom>
          <a:solidFill>
            <a:srgbClr val="FEF2F2"/>
          </a:solidFill>
          <a:ln/>
        </p:spPr>
      </p:sp>
      <p:sp>
        <p:nvSpPr>
          <p:cNvPr id="10" name="Shape 7"/>
          <p:cNvSpPr/>
          <p:nvPr/>
        </p:nvSpPr>
        <p:spPr>
          <a:xfrm>
            <a:off x="457200" y="1280160"/>
            <a:ext cx="54864" cy="502920"/>
          </a:xfrm>
          <a:prstGeom prst="rect">
            <a:avLst/>
          </a:prstGeom>
          <a:solidFill>
            <a:srgbClr val="F43F5E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53312"/>
            <a:ext cx="320040" cy="32004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051560" y="128016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all these concepts combine in the real world?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457200" y="19659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Concepts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457200" y="2331720"/>
            <a:ext cx="8229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Copilot, Claude Code, Cursor, Devin — all use these patterns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core + ReAct loop + tools via MCP + context engineering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 agent with memory, reflection, and multi-agent collaboration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Capstone: mini coding assistant combining Modules 01–09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457200" y="4434840"/>
            <a:ext cx="8229600" cy="502920"/>
          </a:xfrm>
          <a:prstGeom prst="rect">
            <a:avLst/>
          </a:prstGeom>
          <a:solidFill>
            <a:srgbClr val="F0FDF4"/>
          </a:solidFill>
          <a:ln/>
        </p:spPr>
      </p:sp>
      <p:sp>
        <p:nvSpPr>
          <p:cNvPr id="16" name="Shape 12"/>
          <p:cNvSpPr/>
          <p:nvPr/>
        </p:nvSpPr>
        <p:spPr>
          <a:xfrm>
            <a:off x="457200" y="4434840"/>
            <a:ext cx="54864" cy="502920"/>
          </a:xfrm>
          <a:prstGeom prst="rect">
            <a:avLst/>
          </a:prstGeom>
          <a:solidFill>
            <a:srgbClr val="10B981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507992"/>
            <a:ext cx="320040" cy="32004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051560" y="44348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01_mini_agent.py — Complete agentic coding assistant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Getting Started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393192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05840"/>
            <a:ext cx="54864" cy="3474720"/>
          </a:xfrm>
          <a:prstGeom prst="rect">
            <a:avLst/>
          </a:prstGeom>
          <a:solidFill>
            <a:srgbClr val="06B6D4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143000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97280" y="11430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Tech Stack &amp; Setup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685800" y="1645920"/>
            <a:ext cx="3474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3.11+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SDK (openai &gt;= 1.12)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NumPy (for RAG embeddings)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 install -r requirements.txt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OPENAI_API_KEY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754880" y="1005840"/>
            <a:ext cx="393192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54880" y="1005840"/>
            <a:ext cx="54864" cy="3474720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143000"/>
            <a:ext cx="365760" cy="3657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394960" y="11430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Azure OpenAI Option</a:t>
            </a:r>
            <a:endParaRPr lang="en-US" sz="1800" dirty="0"/>
          </a:p>
        </p:txBody>
      </p:sp>
      <p:sp>
        <p:nvSpPr>
          <p:cNvPr id="13" name="Text 9"/>
          <p:cNvSpPr/>
          <p:nvPr/>
        </p:nvSpPr>
        <p:spPr>
          <a:xfrm>
            <a:off x="4983480" y="1645920"/>
            <a:ext cx="3474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USE_AZURE_OPENAI=true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AZURE_OPENAI_API_KEY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AZURE_OPENAI_ENDPOINT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deployment name for model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code works for both!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457200" y="46634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21 examples support both OpenAI and Azure OpenAI — just switch env vars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B6D4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74320"/>
            <a:ext cx="45720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97280" y="2743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Takeaways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48640" y="1005840"/>
            <a:ext cx="8046720" cy="64008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6" name="Shape 3"/>
          <p:cNvSpPr/>
          <p:nvPr/>
        </p:nvSpPr>
        <p:spPr>
          <a:xfrm>
            <a:off x="548640" y="1005840"/>
            <a:ext cx="54864" cy="640080"/>
          </a:xfrm>
          <a:prstGeom prst="rect">
            <a:avLst/>
          </a:prstGeom>
          <a:solidFill>
            <a:srgbClr val="06B6D4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15568"/>
            <a:ext cx="365760" cy="36576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234440" y="100584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 is a tool, not magic</a:t>
            </a:r>
            <a:endParaRPr lang="en-US" sz="1500" dirty="0"/>
          </a:p>
        </p:txBody>
      </p:sp>
      <p:sp>
        <p:nvSpPr>
          <p:cNvPr id="9" name="Text 5"/>
          <p:cNvSpPr/>
          <p:nvPr/>
        </p:nvSpPr>
        <p:spPr>
          <a:xfrm>
            <a:off x="4572000" y="100584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the components to use them effectively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548640" y="1783080"/>
            <a:ext cx="8046720" cy="64008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1" name="Shape 7"/>
          <p:cNvSpPr/>
          <p:nvPr/>
        </p:nvSpPr>
        <p:spPr>
          <a:xfrm>
            <a:off x="548640" y="1783080"/>
            <a:ext cx="54864" cy="640080"/>
          </a:xfrm>
          <a:prstGeom prst="rect">
            <a:avLst/>
          </a:prstGeom>
          <a:solidFill>
            <a:srgbClr val="06B6D4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892808"/>
            <a:ext cx="365760" cy="36576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234440" y="178308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Context engineering is #1</a:t>
            </a:r>
            <a:endParaRPr lang="en-US" sz="1500" dirty="0"/>
          </a:p>
        </p:txBody>
      </p:sp>
      <p:sp>
        <p:nvSpPr>
          <p:cNvPr id="14" name="Text 9"/>
          <p:cNvSpPr/>
          <p:nvPr/>
        </p:nvSpPr>
        <p:spPr>
          <a:xfrm>
            <a:off x="4572000" y="178308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important skill for building production AI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548640" y="2560320"/>
            <a:ext cx="8046720" cy="64008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6" name="Shape 11"/>
          <p:cNvSpPr/>
          <p:nvPr/>
        </p:nvSpPr>
        <p:spPr>
          <a:xfrm>
            <a:off x="548640" y="2560320"/>
            <a:ext cx="54864" cy="640080"/>
          </a:xfrm>
          <a:prstGeom prst="rect">
            <a:avLst/>
          </a:prstGeom>
          <a:solidFill>
            <a:srgbClr val="06B6D4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2670048"/>
            <a:ext cx="365760" cy="36576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234440" y="256032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Agents are loops, not calls</a:t>
            </a:r>
            <a:endParaRPr lang="en-US" sz="1500" dirty="0"/>
          </a:p>
        </p:txBody>
      </p:sp>
      <p:sp>
        <p:nvSpPr>
          <p:cNvPr id="19" name="Text 13"/>
          <p:cNvSpPr/>
          <p:nvPr/>
        </p:nvSpPr>
        <p:spPr>
          <a:xfrm>
            <a:off x="4572000" y="256032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power comes from iterative reasoning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548640" y="3337560"/>
            <a:ext cx="8046720" cy="64008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1" name="Shape 15"/>
          <p:cNvSpPr/>
          <p:nvPr/>
        </p:nvSpPr>
        <p:spPr>
          <a:xfrm>
            <a:off x="548640" y="3337560"/>
            <a:ext cx="54864" cy="640080"/>
          </a:xfrm>
          <a:prstGeom prst="rect">
            <a:avLst/>
          </a:prstGeom>
          <a:solidFill>
            <a:srgbClr val="06B6D4"/>
          </a:solidFill>
          <a:ln/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3447288"/>
            <a:ext cx="365760" cy="36576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234440" y="333756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MCP is the future</a:t>
            </a:r>
            <a:endParaRPr lang="en-US" sz="1500" dirty="0"/>
          </a:p>
        </p:txBody>
      </p:sp>
      <p:sp>
        <p:nvSpPr>
          <p:cNvPr id="24" name="Text 17"/>
          <p:cNvSpPr/>
          <p:nvPr/>
        </p:nvSpPr>
        <p:spPr>
          <a:xfrm>
            <a:off x="4572000" y="333756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protocol for plug-and-play AI capabilities</a:t>
            </a:r>
            <a:endParaRPr lang="en-US" sz="1300" dirty="0"/>
          </a:p>
        </p:txBody>
      </p:sp>
      <p:sp>
        <p:nvSpPr>
          <p:cNvPr id="25" name="Shape 18"/>
          <p:cNvSpPr/>
          <p:nvPr/>
        </p:nvSpPr>
        <p:spPr>
          <a:xfrm>
            <a:off x="548640" y="4114800"/>
            <a:ext cx="8046720" cy="64008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6" name="Shape 19"/>
          <p:cNvSpPr/>
          <p:nvPr/>
        </p:nvSpPr>
        <p:spPr>
          <a:xfrm>
            <a:off x="548640" y="4114800"/>
            <a:ext cx="54864" cy="640080"/>
          </a:xfrm>
          <a:prstGeom prst="rect">
            <a:avLst/>
          </a:prstGeom>
          <a:solidFill>
            <a:srgbClr val="06B6D4"/>
          </a:solidFill>
          <a:ln/>
        </p:spPr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4224528"/>
            <a:ext cx="365760" cy="365760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1234440" y="411480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 simple, add complexity</a:t>
            </a:r>
            <a:endParaRPr lang="en-US" sz="1500" dirty="0"/>
          </a:p>
        </p:txBody>
      </p:sp>
      <p:sp>
        <p:nvSpPr>
          <p:cNvPr id="29" name="Text 21"/>
          <p:cNvSpPr/>
          <p:nvPr/>
        </p:nvSpPr>
        <p:spPr>
          <a:xfrm>
            <a:off x="4572000" y="411480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Chatbot → Tools → ReAct → Full Agent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B6D4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0" y="548640"/>
            <a:ext cx="914400" cy="9144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554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 Building!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457200" y="21945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future is agentic — and it's built on these foundations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3200400" y="2834640"/>
            <a:ext cx="2743200" cy="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828800" y="3017520"/>
            <a:ext cx="5486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Paper: arxiv.org/abs/2210.03629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Spec: modelcontextprotocol.io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 Agent Guide: anthropic.com/research/building-effective-agents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Agents SDK: github.com/openai/openai-agents-python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You!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Evolution of AI: From LLMs to Modern Agentic AI</dc:title>
  <dc:subject>PptxGenJS Presentation</dc:subject>
  <dc:creator>AI Evolution Learn</dc:creator>
  <cp:lastModifiedBy>AI Evolution Learn</cp:lastModifiedBy>
  <cp:revision>1</cp:revision>
  <dcterms:created xsi:type="dcterms:W3CDTF">2026-03-29T04:53:14Z</dcterms:created>
  <dcterms:modified xsi:type="dcterms:W3CDTF">2026-03-29T04:53:14Z</dcterms:modified>
</cp:coreProperties>
</file>