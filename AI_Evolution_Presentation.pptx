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Evolution of AI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LLMs to Modern Agentic AI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10-Module Hands-On Journey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OpenAI / Azure OpenAI  |  Code Examples Included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LLMs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057400" y="105156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57400" y="105156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794760" y="105156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794760" y="105156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2"/>
          <p:cNvSpPr/>
          <p:nvPr/>
        </p:nvSpPr>
        <p:spPr>
          <a:xfrm>
            <a:off x="393192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08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8620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Pattern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532120" y="105156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532120" y="105156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6"/>
          <p:cNvSpPr/>
          <p:nvPr/>
        </p:nvSpPr>
        <p:spPr>
          <a:xfrm>
            <a:off x="566928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269480" y="105156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69480" y="105156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0"/>
          <p:cNvSpPr/>
          <p:nvPr/>
        </p:nvSpPr>
        <p:spPr>
          <a:xfrm>
            <a:off x="740664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5087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6092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20040" y="297180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" y="297180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2900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11480" y="3977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2057400" y="297180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057400" y="297180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28"/>
          <p:cNvSpPr/>
          <p:nvPr/>
        </p:nvSpPr>
        <p:spPr>
          <a:xfrm>
            <a:off x="219456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3429000"/>
            <a:ext cx="411480" cy="411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148840" y="3977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3794760" y="297180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794760" y="297180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1" name="Text 32"/>
          <p:cNvSpPr/>
          <p:nvPr/>
        </p:nvSpPr>
        <p:spPr>
          <a:xfrm>
            <a:off x="39319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429000"/>
            <a:ext cx="411480" cy="4114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886200" y="3977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5532120" y="297180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5532120" y="297180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6" name="Text 36"/>
          <p:cNvSpPr/>
          <p:nvPr/>
        </p:nvSpPr>
        <p:spPr>
          <a:xfrm>
            <a:off x="566928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429000"/>
            <a:ext cx="411480" cy="4114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623560" y="3977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Skills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7269480" y="2971800"/>
            <a:ext cx="1600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7269480" y="2971800"/>
            <a:ext cx="54864" cy="1737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0"/>
          <p:cNvSpPr/>
          <p:nvPr/>
        </p:nvSpPr>
        <p:spPr>
          <a:xfrm>
            <a:off x="740664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3429000"/>
            <a:ext cx="411480" cy="41148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360920" y="3977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Agentic AI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solves a real pain point — building from simple to advanced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Story Arc: Pain Points Drive Innovation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give random outputs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14984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960120"/>
            <a:ext cx="3749040" cy="38404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846320" y="96012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(02)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453896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453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46320" y="1453896"/>
            <a:ext cx="374904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4846320" y="1453896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1453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Pattern (03)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1947672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1947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can't act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02536"/>
            <a:ext cx="274320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846320" y="1947672"/>
            <a:ext cx="3749040" cy="384048"/>
          </a:xfrm>
          <a:prstGeom prst="rect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846320" y="1947672"/>
            <a:ext cx="54864" cy="38404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1" name="Text 16"/>
          <p:cNvSpPr/>
          <p:nvPr/>
        </p:nvSpPr>
        <p:spPr>
          <a:xfrm>
            <a:off x="5029200" y="1947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(04)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2441448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2441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without reasoning is blind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496312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846320" y="2441448"/>
            <a:ext cx="3749040" cy="384048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4846320" y="2441448"/>
            <a:ext cx="54864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1"/>
          <p:cNvSpPr/>
          <p:nvPr/>
        </p:nvSpPr>
        <p:spPr>
          <a:xfrm>
            <a:off x="5029200" y="2441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 (05)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2935224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2935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reactive, not proactive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990088"/>
            <a:ext cx="274320" cy="27432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4846320" y="2935224"/>
            <a:ext cx="3749040" cy="384048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4846320" y="2935224"/>
            <a:ext cx="54864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26"/>
          <p:cNvSpPr/>
          <p:nvPr/>
        </p:nvSpPr>
        <p:spPr>
          <a:xfrm>
            <a:off x="5029200" y="2935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(06)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" y="3429000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28"/>
          <p:cNvSpPr/>
          <p:nvPr/>
        </p:nvSpPr>
        <p:spPr>
          <a:xfrm>
            <a:off x="640080" y="3429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can't do everything</a:t>
            </a:r>
            <a:endParaRPr lang="en-US" sz="1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483864"/>
            <a:ext cx="274320" cy="27432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846320" y="3429000"/>
            <a:ext cx="3749040" cy="38404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8" name="Shape 30"/>
          <p:cNvSpPr/>
          <p:nvPr/>
        </p:nvSpPr>
        <p:spPr>
          <a:xfrm>
            <a:off x="4846320" y="342900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1"/>
          <p:cNvSpPr/>
          <p:nvPr/>
        </p:nvSpPr>
        <p:spPr>
          <a:xfrm>
            <a:off x="5029200" y="3429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(07)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48640" y="3922776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3"/>
          <p:cNvSpPr/>
          <p:nvPr/>
        </p:nvSpPr>
        <p:spPr>
          <a:xfrm>
            <a:off x="640080" y="39227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chaos</a:t>
            </a:r>
            <a:endParaRPr lang="en-US" sz="11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977640"/>
            <a:ext cx="274320" cy="27432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4846320" y="3922776"/>
            <a:ext cx="374904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44" name="Shape 35"/>
          <p:cNvSpPr/>
          <p:nvPr/>
        </p:nvSpPr>
        <p:spPr>
          <a:xfrm>
            <a:off x="4846320" y="3922776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36"/>
          <p:cNvSpPr/>
          <p:nvPr/>
        </p:nvSpPr>
        <p:spPr>
          <a:xfrm>
            <a:off x="5029200" y="39227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Eng. (08)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548640" y="4416552"/>
            <a:ext cx="36576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38"/>
          <p:cNvSpPr/>
          <p:nvPr/>
        </p:nvSpPr>
        <p:spPr>
          <a:xfrm>
            <a:off x="640080" y="44165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N*M integration problem</a:t>
            </a:r>
            <a:endParaRPr lang="en-US" sz="11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4471416"/>
            <a:ext cx="274320" cy="274320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4846320" y="4416552"/>
            <a:ext cx="3749040" cy="384048"/>
          </a:xfrm>
          <a:prstGeom prst="rect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50" name="Shape 40"/>
          <p:cNvSpPr/>
          <p:nvPr/>
        </p:nvSpPr>
        <p:spPr>
          <a:xfrm>
            <a:off x="4846320" y="4416552"/>
            <a:ext cx="54864" cy="38404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1" name="Text 41"/>
          <p:cNvSpPr/>
          <p:nvPr/>
        </p:nvSpPr>
        <p:spPr>
          <a:xfrm>
            <a:off x="5029200" y="44165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Skills (09)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LLMs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base technology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stateless text completion engines with fundamental limits.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architecture: Attention Is All You Need (Vaswani, 2017)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abilities at scale: few-shot learning, chain-of-thought, code gen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limits: no memory, knowledge cutoff, hallucination, no 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is independent — the model forgets everything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01_basic_llm_call.py — Simple OpenAI / Azure OpenAI API call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LLMs actually useful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prompts give inconsistent, low-quality outputs.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Few-shot → Chain-of-Thought → System Prompts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(JSON mode) for data pipelines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patterns, self-consistency, Tree-of-Thought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but insufficient — can't fix hallucination or knowledge cutoff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01_prompting_techniques.py — Compare 4 techniques on one task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Pattern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frozen in time and hallucinate about private data.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→ Store → Retrieve → Augment → Generate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embeddings: semantic similarity via cosine distance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eliminates hallucination for known knowledge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pattern — can't take actions or iterate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01_simple_rag.py — Full RAG pipeline from scratch with NumPy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 &amp; Tools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that can act in the real world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think but can't DO anything.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WHAT to call; your code EXECUTES it (safety boundary)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defined via JSON Schema — LLM reads the schema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introduced function calling (June 2023)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only — no multi-step reasoning yet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02_multi_tool_assistant.py — Project management assistant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Pattern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— the foundation of agents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without reasoning is blind execution.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loop (Yao et al., 2022)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problem solving with adaptive planning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recovery: retry, fallback, reason about failures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EVERY modern AI agent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02_react_error_recovery.py — Agent that handles API failures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 to autonomous agent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agents are reactive, not proactive.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properties: Planning, Tool Use, Memory, Reflection, Autonomy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loop: Plan → Execute → Observe → Reflect → Adapt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 memory across sessions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Copilot, Cursor, Devin operate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02_agent_with_memory.py — Agent with memory &amp; self-reflection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Systems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&amp; collaboration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can't handle complex multi-domain tasks.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Manager delegates to specialist agents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Sequential handoff (plan → code → review)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 Adversarial collaboration for quality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Swarm: Dynamic routing to the right expert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02_code_review_pipeline.py — Security + Performance reviewers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skill for production AI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isn't enough for complex agent systems.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the ENTIRE context window, not just the prompt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old history, keep recent turns detailed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Priority-based: P1 system+query, P2 code+docs, P3 prefs, P4 drop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selection: different queries need different context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02_dynamic_context.py — Context pipeline selecting per-query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&amp; Skills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AI integration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N×M integration problem — every AI app needs custom integrations.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Standard protocol: any AI host ↔ any service ('USB for AI')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expose: Tools (actions), Resources (data), Prompts (templates)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packaged domain knowledge + tool configurations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N+M solution instead of N×M — write once, use everywhere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02_mcp_client_demo.py — Multi-server MCP + LLM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Agentic AI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56032"/>
            <a:ext cx="59436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all these concepts combine in the real world?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Claude Code, Cursor, Devin — all use these patterns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core + ReAct loop + tools via MCP + context engineering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 with memory, reflection, and multi-agent collaboration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mini coding assistant combining Modules 01–09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920240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202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2029968"/>
            <a:ext cx="3977640" cy="22494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01_mini_agent.py — Complete agentic coding assistant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Setup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6459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(openai &gt;= 1.12)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(for RAG embeddings)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OPENAI_API_KEY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 Option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16459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USE_AZURE_OPENAI=true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AZURE_OPENAI_API_KEY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AZURE_OPENAI_ENDPOINT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deployment name for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works for both!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examples support both OpenAI and Azure OpenAI — just switch env vars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0584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155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005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a tool, not magic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0" y="1005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components to use them effectively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7"/>
          <p:cNvSpPr/>
          <p:nvPr/>
        </p:nvSpPr>
        <p:spPr>
          <a:xfrm>
            <a:off x="548640" y="178308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928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 is #1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7200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skill for building production AI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1"/>
          <p:cNvSpPr/>
          <p:nvPr/>
        </p:nvSpPr>
        <p:spPr>
          <a:xfrm>
            <a:off x="548640" y="256032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7004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are loops, not calls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572000" y="2560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comes from iterative reasoning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333756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4728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is the future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57200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protocol for plug-and-play AI capabilities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19"/>
          <p:cNvSpPr/>
          <p:nvPr/>
        </p:nvSpPr>
        <p:spPr>
          <a:xfrm>
            <a:off x="548640" y="411480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2452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simple, add complexity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57200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→ Tools → ReAct → Full Agent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Building!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agentic — and it's built on these foundations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30175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Paper: arxiv.org/abs/2210.03629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Spec: modelcontextprotocol.io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Agent Guide: anthropic.com/research/building-effective-agents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SDK: github.com/openai/openai-agents-python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AI: From LLMs to Modern Agentic AI</dc:title>
  <dc:subject>PptxGenJS Presentation</dc:subject>
  <dc:creator>AI Evolution Learn</dc:creator>
  <cp:lastModifiedBy>AI Evolution Learn</cp:lastModifiedBy>
  <cp:revision>1</cp:revision>
  <dcterms:created xsi:type="dcterms:W3CDTF">2026-03-29T10:14:24Z</dcterms:created>
  <dcterms:modified xsi:type="dcterms:W3CDTF">2026-03-29T10:14:24Z</dcterms:modified>
</cp:coreProperties>
</file>